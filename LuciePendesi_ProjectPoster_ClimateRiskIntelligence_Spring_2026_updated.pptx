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8" r:id="rId2"/>
  </p:sldIdLst>
  <p:sldSz cx="32918400" cy="219456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20" d="100"/>
          <a:sy n="20" d="100"/>
        </p:scale>
        <p:origin x="1368" y="-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E3D07-C57F-44F6-A8AA-E38D20ADD27E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D316C-77A1-4110-9490-53ACC2E218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34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system operational; final validation and extended testing in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D316C-77A1-4110-9490-53ACC2E218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4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E373-DFE5-D2C6-B832-EB7DCEC8F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0" y="3591562"/>
            <a:ext cx="24688800" cy="7640320"/>
          </a:xfrm>
        </p:spPr>
        <p:txBody>
          <a:bodyPr anchor="b"/>
          <a:lstStyle>
            <a:lvl1pPr algn="ctr">
              <a:defRPr sz="1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0FA3A-69B7-40AC-4138-EE19A3E0C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4800" y="11526522"/>
            <a:ext cx="24688800" cy="5298438"/>
          </a:xfrm>
        </p:spPr>
        <p:txBody>
          <a:bodyPr/>
          <a:lstStyle>
            <a:lvl1pPr marL="0" indent="0" algn="ctr">
              <a:buNone/>
              <a:defRPr sz="6480"/>
            </a:lvl1pPr>
            <a:lvl2pPr marL="1234440" indent="0" algn="ctr">
              <a:buNone/>
              <a:defRPr sz="5400"/>
            </a:lvl2pPr>
            <a:lvl3pPr marL="2468880" indent="0" algn="ctr">
              <a:buNone/>
              <a:defRPr sz="4860"/>
            </a:lvl3pPr>
            <a:lvl4pPr marL="3703320" indent="0" algn="ctr">
              <a:buNone/>
              <a:defRPr sz="4320"/>
            </a:lvl4pPr>
            <a:lvl5pPr marL="4937760" indent="0" algn="ctr">
              <a:buNone/>
              <a:defRPr sz="4320"/>
            </a:lvl5pPr>
            <a:lvl6pPr marL="6172200" indent="0" algn="ctr">
              <a:buNone/>
              <a:defRPr sz="4320"/>
            </a:lvl6pPr>
            <a:lvl7pPr marL="7406640" indent="0" algn="ctr">
              <a:buNone/>
              <a:defRPr sz="4320"/>
            </a:lvl7pPr>
            <a:lvl8pPr marL="8641080" indent="0" algn="ctr">
              <a:buNone/>
              <a:defRPr sz="4320"/>
            </a:lvl8pPr>
            <a:lvl9pPr marL="9875520" indent="0" algn="ctr">
              <a:buNone/>
              <a:defRPr sz="43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C2DDD-4620-BFB1-B48D-12899F77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56672-7619-8B2F-2C6E-D881D5DD6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D98A-2A49-32BA-33B7-CF5019FB4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3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1F7C-BA61-3DDE-EF9F-97C834A2E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E5061-179E-3359-0DC6-FAF294EA6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EA202-9794-B2FC-178B-780165F73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8D7E-458F-42A3-5060-5C1A407D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F1CEC-60E8-83A6-6D81-C9DDAF5D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6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708E-E64B-3362-8113-D851405E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995" y="5471163"/>
            <a:ext cx="28392120" cy="9128758"/>
          </a:xfrm>
        </p:spPr>
        <p:txBody>
          <a:bodyPr anchor="b"/>
          <a:lstStyle>
            <a:lvl1pPr>
              <a:defRPr sz="16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76EC0-BC18-DCB4-414F-3B6FEEB83B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5995" y="14686283"/>
            <a:ext cx="28392120" cy="4800598"/>
          </a:xfrm>
        </p:spPr>
        <p:txBody>
          <a:bodyPr/>
          <a:lstStyle>
            <a:lvl1pPr marL="0" indent="0">
              <a:buNone/>
              <a:defRPr sz="6480">
                <a:solidFill>
                  <a:schemeClr val="tx1">
                    <a:tint val="82000"/>
                  </a:schemeClr>
                </a:solidFill>
              </a:defRPr>
            </a:lvl1pPr>
            <a:lvl2pPr marL="1234440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2pPr>
            <a:lvl3pPr marL="2468880" indent="0">
              <a:buNone/>
              <a:defRPr sz="4860">
                <a:solidFill>
                  <a:schemeClr val="tx1">
                    <a:tint val="82000"/>
                  </a:schemeClr>
                </a:solidFill>
              </a:defRPr>
            </a:lvl3pPr>
            <a:lvl4pPr marL="370332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4pPr>
            <a:lvl5pPr marL="493776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5pPr>
            <a:lvl6pPr marL="617220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6pPr>
            <a:lvl7pPr marL="740664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7pPr>
            <a:lvl8pPr marL="864108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8pPr>
            <a:lvl9pPr marL="9875520" indent="0">
              <a:buNone/>
              <a:defRPr sz="43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9DF3B-2E14-BADD-91E0-53AC69B3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53C78-93EB-224E-C4CA-ACF08B3C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7CC9F-96E3-2E10-F21B-8723DE93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9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5B27-86F3-92A1-4B5B-C75EDA48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3361-3886-E83E-3C1B-9C38683CE9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39C03-7017-2F7B-2FE8-15206B673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665F-0400-3723-BF1B-B98EC975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3E4B6-7AB1-105B-1BF8-42540A779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E289C-C818-7E40-5402-642E71392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4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188B-8481-4143-066E-40E8E293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428" y="1168401"/>
            <a:ext cx="28392120" cy="42418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A4E11-4EB6-FAFE-20FB-CB43236BA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7429" y="5379722"/>
            <a:ext cx="13926025" cy="2636518"/>
          </a:xfrm>
        </p:spPr>
        <p:txBody>
          <a:bodyPr anchor="b"/>
          <a:lstStyle>
            <a:lvl1pPr marL="0" indent="0">
              <a:buNone/>
              <a:defRPr sz="6480" b="1"/>
            </a:lvl1pPr>
            <a:lvl2pPr marL="1234440" indent="0">
              <a:buNone/>
              <a:defRPr sz="5400" b="1"/>
            </a:lvl2pPr>
            <a:lvl3pPr marL="2468880" indent="0">
              <a:buNone/>
              <a:defRPr sz="4860" b="1"/>
            </a:lvl3pPr>
            <a:lvl4pPr marL="3703320" indent="0">
              <a:buNone/>
              <a:defRPr sz="4320" b="1"/>
            </a:lvl4pPr>
            <a:lvl5pPr marL="4937760" indent="0">
              <a:buNone/>
              <a:defRPr sz="4320" b="1"/>
            </a:lvl5pPr>
            <a:lvl6pPr marL="6172200" indent="0">
              <a:buNone/>
              <a:defRPr sz="4320" b="1"/>
            </a:lvl6pPr>
            <a:lvl7pPr marL="7406640" indent="0">
              <a:buNone/>
              <a:defRPr sz="4320" b="1"/>
            </a:lvl7pPr>
            <a:lvl8pPr marL="8641080" indent="0">
              <a:buNone/>
              <a:defRPr sz="4320" b="1"/>
            </a:lvl8pPr>
            <a:lvl9pPr marL="9875520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78F871-8174-6087-E498-5099B3283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67429" y="8016240"/>
            <a:ext cx="13926025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368C56-E8B6-D957-1604-0BEBD2952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664940" y="5379722"/>
            <a:ext cx="13994608" cy="2636518"/>
          </a:xfrm>
        </p:spPr>
        <p:txBody>
          <a:bodyPr anchor="b"/>
          <a:lstStyle>
            <a:lvl1pPr marL="0" indent="0">
              <a:buNone/>
              <a:defRPr sz="6480" b="1"/>
            </a:lvl1pPr>
            <a:lvl2pPr marL="1234440" indent="0">
              <a:buNone/>
              <a:defRPr sz="5400" b="1"/>
            </a:lvl2pPr>
            <a:lvl3pPr marL="2468880" indent="0">
              <a:buNone/>
              <a:defRPr sz="4860" b="1"/>
            </a:lvl3pPr>
            <a:lvl4pPr marL="3703320" indent="0">
              <a:buNone/>
              <a:defRPr sz="4320" b="1"/>
            </a:lvl4pPr>
            <a:lvl5pPr marL="4937760" indent="0">
              <a:buNone/>
              <a:defRPr sz="4320" b="1"/>
            </a:lvl5pPr>
            <a:lvl6pPr marL="6172200" indent="0">
              <a:buNone/>
              <a:defRPr sz="4320" b="1"/>
            </a:lvl6pPr>
            <a:lvl7pPr marL="7406640" indent="0">
              <a:buNone/>
              <a:defRPr sz="4320" b="1"/>
            </a:lvl7pPr>
            <a:lvl8pPr marL="8641080" indent="0">
              <a:buNone/>
              <a:defRPr sz="4320" b="1"/>
            </a:lvl8pPr>
            <a:lvl9pPr marL="9875520" indent="0">
              <a:buNone/>
              <a:defRPr sz="4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66CD28-2DF0-943B-FA1C-1D9739B50F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664940" y="8016240"/>
            <a:ext cx="13994608" cy="117906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B8D2E3-08E5-A338-EEBA-0F37EE362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34571-3A75-ADD3-A30C-9BE71E411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371D9C-9B60-A402-B774-8F75D99FB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17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1EE4-33D9-8E8D-2FD6-F7EC3AF2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5F3A5D-DA2C-4095-29C5-F5A34BF4B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860A23-A877-AC48-59D9-60E92934A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63CA6-CE17-B50A-1120-165C41848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145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E2068-D13C-3FA6-F6BD-BE152316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A4919-8EF0-862A-46C7-C9962045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BAD3A-4574-AD3D-D221-08808CB2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12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D633-548E-EF70-BAD3-E8031728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429" y="1463040"/>
            <a:ext cx="10617040" cy="5120640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7398B-C8AF-2700-5D0D-09E3AB9B2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4608" y="3159762"/>
            <a:ext cx="16664940" cy="15595600"/>
          </a:xfrm>
        </p:spPr>
        <p:txBody>
          <a:bodyPr/>
          <a:lstStyle>
            <a:lvl1pPr>
              <a:defRPr sz="8640"/>
            </a:lvl1pPr>
            <a:lvl2pPr>
              <a:defRPr sz="7560"/>
            </a:lvl2pPr>
            <a:lvl3pPr>
              <a:defRPr sz="6480"/>
            </a:lvl3pPr>
            <a:lvl4pPr>
              <a:defRPr sz="5400"/>
            </a:lvl4pPr>
            <a:lvl5pPr>
              <a:defRPr sz="5400"/>
            </a:lvl5pPr>
            <a:lvl6pPr>
              <a:defRPr sz="5400"/>
            </a:lvl6pPr>
            <a:lvl7pPr>
              <a:defRPr sz="5400"/>
            </a:lvl7pPr>
            <a:lvl8pPr>
              <a:defRPr sz="5400"/>
            </a:lvl8pPr>
            <a:lvl9pPr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E0539-0A81-AE5A-539C-081E1D1C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7429" y="6583680"/>
            <a:ext cx="10617040" cy="12197082"/>
          </a:xfrm>
        </p:spPr>
        <p:txBody>
          <a:bodyPr/>
          <a:lstStyle>
            <a:lvl1pPr marL="0" indent="0">
              <a:buNone/>
              <a:defRPr sz="4320"/>
            </a:lvl1pPr>
            <a:lvl2pPr marL="1234440" indent="0">
              <a:buNone/>
              <a:defRPr sz="3780"/>
            </a:lvl2pPr>
            <a:lvl3pPr marL="2468880" indent="0">
              <a:buNone/>
              <a:defRPr sz="3240"/>
            </a:lvl3pPr>
            <a:lvl4pPr marL="3703320" indent="0">
              <a:buNone/>
              <a:defRPr sz="2700"/>
            </a:lvl4pPr>
            <a:lvl5pPr marL="4937760" indent="0">
              <a:buNone/>
              <a:defRPr sz="2700"/>
            </a:lvl5pPr>
            <a:lvl6pPr marL="6172200" indent="0">
              <a:buNone/>
              <a:defRPr sz="2700"/>
            </a:lvl6pPr>
            <a:lvl7pPr marL="7406640" indent="0">
              <a:buNone/>
              <a:defRPr sz="2700"/>
            </a:lvl7pPr>
            <a:lvl8pPr marL="8641080" indent="0">
              <a:buNone/>
              <a:defRPr sz="2700"/>
            </a:lvl8pPr>
            <a:lvl9pPr marL="9875520" indent="0">
              <a:buNone/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0A3D4-121A-3516-01E4-4AF30FB53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C1563-E862-A28F-E02C-0E84A320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5CEC6-591B-FCC3-E410-C58AE3528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3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FC91-3D5C-7507-1B22-E828C7172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429" y="1463040"/>
            <a:ext cx="10617040" cy="5120640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3C7E25-F235-02A0-21D7-34BA71E90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994608" y="3159762"/>
            <a:ext cx="16664940" cy="15595600"/>
          </a:xfrm>
        </p:spPr>
        <p:txBody>
          <a:bodyPr/>
          <a:lstStyle>
            <a:lvl1pPr marL="0" indent="0">
              <a:buNone/>
              <a:defRPr sz="8640"/>
            </a:lvl1pPr>
            <a:lvl2pPr marL="1234440" indent="0">
              <a:buNone/>
              <a:defRPr sz="7560"/>
            </a:lvl2pPr>
            <a:lvl3pPr marL="2468880" indent="0">
              <a:buNone/>
              <a:defRPr sz="6480"/>
            </a:lvl3pPr>
            <a:lvl4pPr marL="3703320" indent="0">
              <a:buNone/>
              <a:defRPr sz="5400"/>
            </a:lvl4pPr>
            <a:lvl5pPr marL="4937760" indent="0">
              <a:buNone/>
              <a:defRPr sz="5400"/>
            </a:lvl5pPr>
            <a:lvl6pPr marL="6172200" indent="0">
              <a:buNone/>
              <a:defRPr sz="5400"/>
            </a:lvl6pPr>
            <a:lvl7pPr marL="7406640" indent="0">
              <a:buNone/>
              <a:defRPr sz="5400"/>
            </a:lvl7pPr>
            <a:lvl8pPr marL="8641080" indent="0">
              <a:buNone/>
              <a:defRPr sz="5400"/>
            </a:lvl8pPr>
            <a:lvl9pPr marL="9875520" indent="0">
              <a:buNone/>
              <a:defRPr sz="5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87107-D1B7-261E-F376-AC04EF33A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7429" y="6583680"/>
            <a:ext cx="10617040" cy="12197082"/>
          </a:xfrm>
        </p:spPr>
        <p:txBody>
          <a:bodyPr/>
          <a:lstStyle>
            <a:lvl1pPr marL="0" indent="0">
              <a:buNone/>
              <a:defRPr sz="4320"/>
            </a:lvl1pPr>
            <a:lvl2pPr marL="1234440" indent="0">
              <a:buNone/>
              <a:defRPr sz="3780"/>
            </a:lvl2pPr>
            <a:lvl3pPr marL="2468880" indent="0">
              <a:buNone/>
              <a:defRPr sz="3240"/>
            </a:lvl3pPr>
            <a:lvl4pPr marL="3703320" indent="0">
              <a:buNone/>
              <a:defRPr sz="2700"/>
            </a:lvl4pPr>
            <a:lvl5pPr marL="4937760" indent="0">
              <a:buNone/>
              <a:defRPr sz="2700"/>
            </a:lvl5pPr>
            <a:lvl6pPr marL="6172200" indent="0">
              <a:buNone/>
              <a:defRPr sz="2700"/>
            </a:lvl6pPr>
            <a:lvl7pPr marL="7406640" indent="0">
              <a:buNone/>
              <a:defRPr sz="2700"/>
            </a:lvl7pPr>
            <a:lvl8pPr marL="8641080" indent="0">
              <a:buNone/>
              <a:defRPr sz="2700"/>
            </a:lvl8pPr>
            <a:lvl9pPr marL="9875520" indent="0">
              <a:buNone/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900D8-6BBF-0F5A-57CA-0A0F9D95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56F1C-311A-A1E6-E1F4-0DDD4DBD7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BBFC0-BBBD-7C9B-687F-0E0A790D2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49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E444-F0D1-C385-2D6E-78CE9BFE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F244FF-0799-F0C2-19F7-6484F4257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BB077-FDD6-B9F2-178C-500A584B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02F8F-2671-7C3B-14B1-78A58D48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1A1EB-3524-D3C9-44CB-2E9DA7478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0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08AAD-7E34-1D98-1E80-D4DC7F422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3557230" y="1168400"/>
            <a:ext cx="7098030" cy="185978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295774-1D55-1C04-2823-C7D6546E3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63140" y="1168400"/>
            <a:ext cx="20882610" cy="185978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A6192-DD1B-19F2-4422-EB1928D2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844AA-B829-6373-6F82-5491AB4D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0F4FC-7C22-FDFD-8EF6-63E85E01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181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9B88A-9BC4-446D-FDF3-C7D58A3FC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0" y="1168401"/>
            <a:ext cx="28392120" cy="4241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04D24-DD23-4E1A-1A59-A8670BB2F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F2A4-9F95-D0D3-1F2A-8B1EC63B4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0" y="20340322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FCDDFC-5A55-4CE7-8D99-1F88D0FA806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A204D-07FE-8CB7-DABD-3EFD046D0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4220" y="20340322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8B20D-6E78-FE36-B4FA-D5D2B5A37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48620" y="20340322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5C549-306B-45F8-9769-4FA2F3A16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5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2468880" rtl="0" eaLnBrk="1" latinLnBrk="0" hangingPunct="1">
        <a:lnSpc>
          <a:spcPct val="90000"/>
        </a:lnSpc>
        <a:spcBef>
          <a:spcPct val="0"/>
        </a:spcBef>
        <a:buNone/>
        <a:defRPr sz="118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17220" indent="-617220" algn="l" defTabSz="2468880" rtl="0" eaLnBrk="1" latinLnBrk="0" hangingPunct="1">
        <a:lnSpc>
          <a:spcPct val="90000"/>
        </a:lnSpc>
        <a:spcBef>
          <a:spcPts val="27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85166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08610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555498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78942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802386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925830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10492740" indent="-617220" algn="l" defTabSz="2468880" rtl="0" eaLnBrk="1" latinLnBrk="0" hangingPunct="1">
        <a:lnSpc>
          <a:spcPct val="90000"/>
        </a:lnSpc>
        <a:spcBef>
          <a:spcPts val="1350"/>
        </a:spcBef>
        <a:buFont typeface="Arial" panose="020B0604020202020204" pitchFamily="34" charset="0"/>
        <a:buChar char="•"/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1pPr>
      <a:lvl2pPr marL="123444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2pPr>
      <a:lvl3pPr marL="246888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3pPr>
      <a:lvl4pPr marL="370332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5pPr>
      <a:lvl6pPr marL="617220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6pPr>
      <a:lvl7pPr marL="740664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7pPr>
      <a:lvl8pPr marL="864108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8pPr>
      <a:lvl9pPr marL="9875520" algn="l" defTabSz="2468880" rtl="0" eaLnBrk="1" latinLnBrk="0" hangingPunct="1">
        <a:defRPr sz="48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F171A-974A-700D-7080-619579A60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33134"/>
            <a:ext cx="32918396" cy="6160171"/>
          </a:xfrm>
        </p:spPr>
        <p:txBody>
          <a:bodyPr>
            <a:normAutofit fontScale="90000"/>
          </a:bodyPr>
          <a:lstStyle/>
          <a:p>
            <a:b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</a:br>
            <a:b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54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  <a:t>                   </a:t>
            </a:r>
            <a:r>
              <a:rPr lang="en-US" sz="7300" b="1" dirty="0">
                <a:ln/>
                <a:latin typeface="+mn-lt"/>
                <a:ea typeface="ADLaM Display" panose="020F0502020204030204" pitchFamily="2" charset="0"/>
                <a:cs typeface="ADLaM Display" panose="020F0502020204030204" pitchFamily="2" charset="0"/>
              </a:rPr>
              <a:t>Climate Change Modeling Using IoT Sensor Data with Secure Analytics</a:t>
            </a:r>
            <a:br>
              <a:rPr lang="en-US" sz="4400" b="1" dirty="0">
                <a:ln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</a:br>
            <a:r>
              <a:rPr lang="en-US" sz="4400" b="1" dirty="0">
                <a:ln/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                </a:t>
            </a:r>
            <a:r>
              <a:rPr lang="en-US" sz="6000" b="1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Times New Roman" panose="02020603050405020304" pitchFamily="18" charset="0"/>
              </a:rPr>
              <a:t>Specific Use Case: Verifiable Climate Risk Intelligence as a Public Subscription Service</a:t>
            </a:r>
            <a:br>
              <a:rPr lang="en-US" sz="60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Times New Roman" panose="02020603050405020304" pitchFamily="18" charset="0"/>
              </a:rPr>
            </a:br>
            <a: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Times New Roman" panose="02020603050405020304" pitchFamily="18" charset="0"/>
              </a:rPr>
              <a:t>MS of Sciences in Professional Studies: Cybersecurity, Internet of Things, and Data Management &amp; Analytics</a:t>
            </a:r>
            <a:b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Times New Roman" panose="02020603050405020304" pitchFamily="18" charset="0"/>
              </a:rPr>
            </a:br>
            <a: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                                        </a:t>
            </a:r>
            <a:r>
              <a:rPr lang="en-US" sz="6700" b="1" dirty="0">
                <a:ln w="12700" cmpd="sng">
                  <a:solidFill>
                    <a:schemeClr val="accent4"/>
                  </a:solidFill>
                  <a:prstDash val="solid"/>
                </a:ln>
              </a:rPr>
              <a:t>Lucie Pendesi</a:t>
            </a:r>
            <a:br>
              <a:rPr lang="en-US" sz="6000" b="1" dirty="0">
                <a:ln w="12700" cmpd="sng">
                  <a:solidFill>
                    <a:schemeClr val="accent4"/>
                  </a:solidFill>
                  <a:prstDash val="solid"/>
                </a:ln>
              </a:rPr>
            </a:br>
            <a:r>
              <a:rPr lang="en-US" sz="6000" b="1" dirty="0">
                <a:ln w="12700" cmpd="sng">
                  <a:solidFill>
                    <a:schemeClr val="accent4"/>
                  </a:solidFill>
                  <a:prstDash val="solid"/>
                </a:ln>
              </a:rPr>
              <a:t>                                                                  </a:t>
            </a:r>
            <a:r>
              <a:rPr lang="en-US" sz="6000" dirty="0">
                <a:ln w="22225">
                  <a:solidFill>
                    <a:schemeClr val="accent2"/>
                  </a:solidFill>
                  <a:prstDash val="solid"/>
                </a:ln>
              </a:rPr>
              <a:t>Rochester Institute of Technology — Spring 2026</a:t>
            </a:r>
            <a:br>
              <a:rPr lang="en-US" sz="6000" dirty="0">
                <a:ln w="22225">
                  <a:solidFill>
                    <a:schemeClr val="accent2"/>
                  </a:solidFill>
                  <a:prstDash val="solid"/>
                </a:ln>
              </a:rPr>
            </a:br>
            <a:r>
              <a:rPr lang="en-US" sz="6700" b="1" dirty="0">
                <a:solidFill>
                  <a:schemeClr val="accent1"/>
                </a:solidFill>
              </a:rPr>
              <a:t>Problem Statement</a:t>
            </a:r>
            <a:br>
              <a:rPr lang="en-US" sz="6700" b="1" dirty="0"/>
            </a:br>
            <a:r>
              <a:rPr lang="en-US" sz="4900" dirty="0"/>
              <a:t>The Climate Risk Intelligence Platform is a full end-to-end Internet of Things (IoT) system designed to collect environmental sensor data, compute real-time climate risk scores, and deliver transparent, verifiable insights through a modern, animated web portal</a:t>
            </a:r>
            <a:r>
              <a:rPr lang="en-US" sz="4400" dirty="0"/>
              <a:t>. </a:t>
            </a:r>
            <a:br>
              <a:rPr lang="en-US" sz="6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  <a:cs typeface="Times New Roman" panose="02020603050405020304" pitchFamily="18" charset="0"/>
              </a:rPr>
            </a:br>
            <a:b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sz="9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sz="9600" b="1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400" b="1" dirty="0">
                <a:ln/>
              </a:rPr>
            </a:b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25B880-81D9-81FA-F50F-A848B65ADD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7578540"/>
              </p:ext>
            </p:extLst>
          </p:nvPr>
        </p:nvGraphicFramePr>
        <p:xfrm>
          <a:off x="1" y="6643742"/>
          <a:ext cx="32918400" cy="3112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0">
                  <a:extLst>
                    <a:ext uri="{9D8B030D-6E8A-4147-A177-3AD203B41FA5}">
                      <a16:colId xmlns:a16="http://schemas.microsoft.com/office/drawing/2014/main" val="1054400491"/>
                    </a:ext>
                  </a:extLst>
                </a:gridCol>
                <a:gridCol w="10972800">
                  <a:extLst>
                    <a:ext uri="{9D8B030D-6E8A-4147-A177-3AD203B41FA5}">
                      <a16:colId xmlns:a16="http://schemas.microsoft.com/office/drawing/2014/main" val="843181504"/>
                    </a:ext>
                  </a:extLst>
                </a:gridCol>
                <a:gridCol w="10972800">
                  <a:extLst>
                    <a:ext uri="{9D8B030D-6E8A-4147-A177-3AD203B41FA5}">
                      <a16:colId xmlns:a16="http://schemas.microsoft.com/office/drawing/2014/main" val="3214187832"/>
                    </a:ext>
                  </a:extLst>
                </a:gridCol>
              </a:tblGrid>
              <a:tr h="17614232">
                <a:tc>
                  <a:txBody>
                    <a:bodyPr/>
                    <a:lstStyle/>
                    <a:p>
                      <a:r>
                        <a:rPr lang="en-US" sz="3600" b="1" dirty="0">
                          <a:solidFill>
                            <a:schemeClr val="accent2"/>
                          </a:solidFill>
                        </a:rPr>
                        <a:t>PROBLEM</a:t>
                      </a:r>
                    </a:p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climate intelligence systems exhibit several limitations:</a:t>
                      </a:r>
                      <a:endParaRPr lang="en-US" sz="2800" b="0" dirty="0">
                        <a:solidFill>
                          <a:schemeClr val="tx1"/>
                        </a:solidFill>
                      </a:endParaRP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Climate risk systems lack transparency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📡IoT data pipelines are not verifiable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Public access to risk intelligence is limited</a:t>
                      </a:r>
                    </a:p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chemeClr val="accent2"/>
                          </a:solidFill>
                        </a:rPr>
                        <a:t>SOLUTION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Schema-controlled communication using Protocol Buffers,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Distributed event-driven processing using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MassTransit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Climate risk and confidence scoring mechanisms(flood, heat, air quality).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Model evolution tracking and drift detection,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Demonstrate a scalable model for public subscription‑based climate intelligence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Challenges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Hardware failures (BME280, ESP32 instability)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Resolved via virtual sensor + hardware replacement</a:t>
                      </a:r>
                    </a:p>
                    <a:p>
                      <a:r>
                        <a:rPr lang="en-US" sz="3600" dirty="0">
                          <a:solidFill>
                            <a:schemeClr val="accent2"/>
                          </a:solidFill>
                        </a:rPr>
                        <a:t>RESULTS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Real-time 📡IoT data successfully ingested and stored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Protobuf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pipeline verified (binary → decoded → database)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R 📊 analytics engine executed:</a:t>
                      </a: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    Rolling averages Z-score              </a:t>
                      </a: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     Anomaly detection  </a:t>
                      </a:r>
                    </a:p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      ARIMA forecasting 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Forecasts stored in database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Frontend dashboard supports live + mock mode</a:t>
                      </a:r>
                      <a:endParaRPr lang="en-US" sz="44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600" b="1" dirty="0">
                          <a:solidFill>
                            <a:schemeClr val="accent2"/>
                          </a:solidFill>
                        </a:rPr>
                        <a:t>Challenges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Hardware failures (BME280, ESP32 instability)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Resolved via virtual sensor + hardware replacement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36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Why It Matters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Communities need fast, trustworthy climate intelligence.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This platform turns raw sensor data into actionable insights — enabling early warnings, environmental monitoring, and data‑driven decision‑making.</a:t>
                      </a:r>
                      <a:endParaRPr lang="en-US" sz="40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4000" b="0" dirty="0">
                          <a:solidFill>
                            <a:schemeClr val="tx1"/>
                          </a:solidFill>
                        </a:rPr>
                        <a:t>It shows transparency, not weakness.</a:t>
                      </a:r>
                    </a:p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40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>
                          <a:solidFill>
                            <a:schemeClr val="accent2"/>
                          </a:solidFill>
                        </a:rPr>
                        <a:t>           SYSTEM ARCHITECTURE</a:t>
                      </a:r>
                    </a:p>
                    <a:p>
                      <a:endParaRPr lang="en-US" sz="48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</a:t>
                      </a:r>
                      <a:r>
                        <a:rPr lang="en-US" sz="4000" b="0" dirty="0">
                          <a:solidFill>
                            <a:schemeClr val="tx1"/>
                          </a:solidFill>
                        </a:rPr>
                        <a:t> ↓            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   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  ↓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                             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   ↓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                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     ↓</a:t>
                      </a:r>
                    </a:p>
                    <a:p>
                      <a:r>
                        <a:rPr lang="en-US" sz="4800" b="0" dirty="0">
                          <a:solidFill>
                            <a:schemeClr val="tx1"/>
                          </a:solidFill>
                        </a:rPr>
                        <a:t>                                  </a:t>
                      </a:r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    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↓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</a:t>
                      </a: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↓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</a:t>
                      </a:r>
                    </a:p>
                    <a:p>
                      <a:endParaRPr lang="en-US" sz="32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3200" b="0" dirty="0">
                          <a:solidFill>
                            <a:schemeClr val="tx1"/>
                          </a:solidFill>
                        </a:rPr>
                        <a:t>Prototype system operational; final validation and extended testing in progress.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 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   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     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</a:t>
                      </a:r>
                    </a:p>
                    <a:p>
                      <a:r>
                        <a:rPr lang="en-US" sz="5400" b="0" dirty="0">
                          <a:solidFill>
                            <a:schemeClr val="tx1"/>
                          </a:solidFill>
                        </a:rPr>
                        <a:t>                                  </a:t>
                      </a: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sz="5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>
                          <a:solidFill>
                            <a:schemeClr val="accent2"/>
                          </a:solidFill>
                        </a:rPr>
                        <a:t>KEY FEATURES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Deploy </a:t>
                      </a: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LoRaWAN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gateway outdoors for long‑range testing.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Add ML‑based flood prediction (Random Forest / LSTM).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Add subscriber alerting (push notifications, webhooks).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Expand sensor suite (soil moisture, PM2.5, river level).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Deploy backend to cloud (Azure / AWS).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Add user accounts + API keys for researchers</a:t>
                      </a:r>
                    </a:p>
                    <a:p>
                      <a:r>
                        <a:rPr lang="en-US" sz="4000" b="1" dirty="0">
                          <a:solidFill>
                            <a:schemeClr val="accent2"/>
                          </a:solidFill>
                        </a:rPr>
                        <a:t>LESSONS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Hardware reliability can impact system progress → simulation is essential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 err="1">
                          <a:solidFill>
                            <a:schemeClr val="tx1"/>
                          </a:solidFill>
                        </a:rPr>
                        <a:t>Protobuf</a:t>
                      </a: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 significantly improves performance for 📡IoT systems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End-to-end validation is critical before scaling architecture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Modular design simplifies debugging and expansion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Security must be integrated from the beginning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4000" dirty="0">
                          <a:solidFill>
                            <a:schemeClr val="accent2"/>
                          </a:solidFill>
                        </a:rPr>
                        <a:t>Acknowledgments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Capstone Project Instructor: </a:t>
                      </a: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Peter Boyd,   Instructor—Coordinator, MS in Professional Studies (RIT)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 SMEs : </a:t>
                      </a:r>
                      <a:r>
                        <a:rPr lang="en-US" sz="2800" dirty="0">
                          <a:solidFill>
                            <a:schemeClr val="accent4"/>
                          </a:solidFill>
                        </a:rPr>
                        <a:t>Siavash Khaksar, Senior Lecture(EECMS), Curtin University(Australia)</a:t>
                      </a:r>
                    </a:p>
                    <a:p>
                      <a:pPr marL="0" marR="0" lvl="0" indent="0" algn="l" defTabSz="29260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QR CODE — Local Demo</a:t>
                      </a: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4800" dirty="0">
                          <a:solidFill>
                            <a:srgbClr val="FFC000"/>
                          </a:solidFill>
                        </a:rPr>
                        <a:t>Live Demo</a:t>
                      </a:r>
                      <a:r>
                        <a:rPr lang="en-US" sz="44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4400" dirty="0">
                          <a:solidFill>
                            <a:srgbClr val="FFFF00"/>
                          </a:solidFill>
                        </a:rPr>
                        <a:t>URL: http://localhost:5173</a:t>
                      </a:r>
                      <a:endParaRPr lang="en-US" sz="2800" dirty="0">
                        <a:solidFill>
                          <a:srgbClr val="FFFF00"/>
                        </a:solidFill>
                      </a:endParaRP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████████████████████████████████████████████████████░░░░░░██░░██░░░░░░██░░██░░██░░░░░░██░░░░░░██░░████░░██░░██░░██░░██░░██░░██░░██░░██░░██░░██░░██░░████░░░░░░██░░██░░░░░░██░░██░░██░░░░░░██░░░░░░██░░████████░░██░░██████░░██░░██░░██████░░██░░██████░░████░░░░░░██░░░░░░░░░░██░░██░░░░░░░░░░██░░░░░░██░░████░░██░░██░░██████░░██░░██░░██████░░██░░██████░░████░░░░░░██░░░░░░░░░░██░░██░░░░░░░░░░██░░░░░░██░░████████████████████████████████████████████████████</a:t>
                      </a:r>
                    </a:p>
                    <a:p>
                      <a:pPr marL="571500" indent="-571500">
                        <a:buFont typeface="Arial" panose="020B0604020202020204" pitchFamily="34" charset="0"/>
                        <a:buChar char="•"/>
                      </a:pPr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QR CODE — GitHub Repository: </a:t>
                      </a:r>
                    </a:p>
                    <a:p>
                      <a:r>
                        <a:rPr lang="en-US" sz="2400" b="0" dirty="0">
                          <a:solidFill>
                            <a:srgbClr val="FFC000"/>
                          </a:solidFill>
                        </a:rPr>
                        <a:t>URL</a:t>
                      </a:r>
                      <a:r>
                        <a:rPr lang="en-US" sz="2400" dirty="0">
                          <a:effectLst/>
                        </a:rPr>
                        <a:t>https://github.com/luciependesi/Climate_Risk_Intelligence_LP</a:t>
                      </a:r>
                      <a:endParaRPr lang="en-US" sz="2400" b="0" dirty="0">
                        <a:solidFill>
                          <a:srgbClr val="FFFF00"/>
                        </a:solidFill>
                      </a:endParaRPr>
                    </a:p>
                    <a:p>
                      <a:endParaRPr lang="en-US" sz="2800" b="0" dirty="0">
                        <a:solidFill>
                          <a:srgbClr val="C00000"/>
                        </a:solidFill>
                      </a:endParaRPr>
                    </a:p>
                    <a:p>
                      <a:r>
                        <a:rPr lang="en-US" sz="1400" b="0" dirty="0">
                          <a:solidFill>
                            <a:schemeClr val="tx2"/>
                          </a:solidFill>
                        </a:rPr>
                        <a:t>████████████████████████████████████████████████████░░░░░░██░░██░░░░░░██░░░░░░██░░██░░░░░░██░░░░░░████░░██░░██░░██░░██░░██░░██░░██░░██░░██░░██░░██░░████░░░░░░██░░██░░░░░░██░░░░░░██░░██░░░░░░██░░░░░░████████████░░██░░██████░░██████░░██░░██████░░████████░░░░░░██░░██░░░░░░██░░░░░░██░░██░░░░░░██░░░░░░████░░██░░██░░██████░░██░░██████░░██████░░██░░████████░░░░░░██░░░░░░░░░░██░░░░░░██░░░░░░░░░░██░░░░░░███████████████████████████████████████████████████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13658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C4A76D5-16E3-8B18-5140-8F06ED50F718}"/>
              </a:ext>
            </a:extLst>
          </p:cNvPr>
          <p:cNvSpPr/>
          <p:nvPr/>
        </p:nvSpPr>
        <p:spPr>
          <a:xfrm>
            <a:off x="12043608" y="7329574"/>
            <a:ext cx="6304548" cy="10505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📡</a:t>
            </a:r>
            <a:r>
              <a:rPr lang="en-US" sz="2800" dirty="0"/>
              <a:t>IoT Device (ESP32‑S3)      </a:t>
            </a:r>
          </a:p>
          <a:p>
            <a:pPr algn="ctr"/>
            <a:r>
              <a:rPr lang="en-US" sz="2800" dirty="0"/>
              <a:t>            Sensors ↓→ </a:t>
            </a:r>
            <a:r>
              <a:rPr lang="en-US" sz="2800" dirty="0" err="1"/>
              <a:t>Protobuf</a:t>
            </a:r>
            <a:r>
              <a:rPr lang="en-US" sz="2800" dirty="0"/>
              <a:t> Payload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B598DD-EAFA-51F1-51EF-F7AA8A13935D}"/>
              </a:ext>
            </a:extLst>
          </p:cNvPr>
          <p:cNvSpPr/>
          <p:nvPr/>
        </p:nvSpPr>
        <p:spPr>
          <a:xfrm>
            <a:off x="12139861" y="8865765"/>
            <a:ext cx="5089361" cy="741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MQTT Broker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5D80EB-C762-0091-3DCD-9074EE4E31D6}"/>
              </a:ext>
            </a:extLst>
          </p:cNvPr>
          <p:cNvSpPr/>
          <p:nvPr/>
        </p:nvSpPr>
        <p:spPr>
          <a:xfrm>
            <a:off x="11790944" y="10170993"/>
            <a:ext cx="6304548" cy="1401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Ingestion Microservice        </a:t>
            </a:r>
          </a:p>
          <a:p>
            <a:pPr algn="ctr"/>
            <a:r>
              <a:rPr lang="en-US" sz="2800" dirty="0"/>
              <a:t>          (MQTT → </a:t>
            </a:r>
            <a:r>
              <a:rPr lang="en-US" sz="2800" dirty="0" err="1"/>
              <a:t>Protobuf</a:t>
            </a:r>
            <a:r>
              <a:rPr lang="en-US" sz="2800" dirty="0"/>
              <a:t> Decode)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3F9DEA-A6BA-EA8B-8366-197E7FCA68B3}"/>
              </a:ext>
            </a:extLst>
          </p:cNvPr>
          <p:cNvSpPr/>
          <p:nvPr/>
        </p:nvSpPr>
        <p:spPr>
          <a:xfrm>
            <a:off x="11790944" y="12308725"/>
            <a:ext cx="6340642" cy="1730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 </a:t>
            </a:r>
            <a:r>
              <a:rPr lang="en-US" sz="2800" dirty="0" err="1"/>
              <a:t>FastAPI</a:t>
            </a:r>
            <a:r>
              <a:rPr lang="en-US" sz="2800" dirty="0"/>
              <a:t> Backend API          </a:t>
            </a:r>
          </a:p>
          <a:p>
            <a:pPr algn="ctr"/>
            <a:r>
              <a:rPr lang="en-US" sz="2800" dirty="0"/>
              <a:t>          - Validation                 </a:t>
            </a:r>
          </a:p>
          <a:p>
            <a:pPr algn="ctr"/>
            <a:r>
              <a:rPr lang="en-US" sz="2800" dirty="0"/>
              <a:t>         - Risk Scoring               </a:t>
            </a:r>
          </a:p>
          <a:p>
            <a:pPr algn="ctr"/>
            <a:r>
              <a:rPr lang="en-US" sz="2800" dirty="0"/>
              <a:t>          - REST Endpoints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F7783D-FAD8-D7D9-4DDF-5F124872B3F0}"/>
              </a:ext>
            </a:extLst>
          </p:cNvPr>
          <p:cNvSpPr/>
          <p:nvPr/>
        </p:nvSpPr>
        <p:spPr>
          <a:xfrm>
            <a:off x="12139861" y="14524970"/>
            <a:ext cx="6304548" cy="17306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/>
              <a:t>TimescaleDB</a:t>
            </a:r>
            <a:r>
              <a:rPr lang="en-US" sz="2800" b="1" dirty="0"/>
              <a:t> (</a:t>
            </a:r>
            <a:r>
              <a:rPr lang="en-US" sz="2800" b="1" dirty="0" err="1"/>
              <a:t>Hypertable</a:t>
            </a:r>
            <a:r>
              <a:rPr lang="en-US" sz="2800" b="1" dirty="0"/>
              <a:t>)       </a:t>
            </a:r>
          </a:p>
          <a:p>
            <a:pPr algn="ctr"/>
            <a:r>
              <a:rPr lang="en-US" sz="2800" b="1" dirty="0"/>
              <a:t>        - Compression                  </a:t>
            </a:r>
          </a:p>
          <a:p>
            <a:pPr algn="ctr"/>
            <a:r>
              <a:rPr lang="en-US" sz="2800" b="1" dirty="0"/>
              <a:t>         - Retention                    </a:t>
            </a:r>
          </a:p>
          <a:p>
            <a:pPr algn="ctr"/>
            <a:r>
              <a:rPr lang="en-US" sz="2800" b="1" dirty="0"/>
              <a:t>        - Continuous Aggregates</a:t>
            </a:r>
            <a:r>
              <a:rPr lang="en-US" sz="4000" b="1" dirty="0"/>
              <a:t>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9CE4A-03B3-FF1D-6A85-F04AC14A11D7}"/>
              </a:ext>
            </a:extLst>
          </p:cNvPr>
          <p:cNvSpPr/>
          <p:nvPr/>
        </p:nvSpPr>
        <p:spPr>
          <a:xfrm>
            <a:off x="12043608" y="16741215"/>
            <a:ext cx="6497053" cy="1730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MassTransit</a:t>
            </a:r>
            <a:r>
              <a:rPr lang="en-US" sz="2800" dirty="0"/>
              <a:t> Event Bus (Future) </a:t>
            </a:r>
          </a:p>
          <a:p>
            <a:pPr algn="ctr"/>
            <a:r>
              <a:rPr lang="en-US" sz="2800" dirty="0"/>
              <a:t>         - Alerts / Subscriptions       </a:t>
            </a:r>
          </a:p>
          <a:p>
            <a:pPr algn="ctr"/>
            <a:r>
              <a:rPr lang="en-US" sz="2800" dirty="0"/>
              <a:t>         - Forecasting / Analytics      </a:t>
            </a:r>
          </a:p>
          <a:p>
            <a:pPr algn="ctr"/>
            <a:r>
              <a:rPr lang="en-US" sz="2800" dirty="0"/>
              <a:t>        ────────────────────────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2A8389-2F0C-1018-EF9D-EB05D57324D7}"/>
              </a:ext>
            </a:extLst>
          </p:cNvPr>
          <p:cNvSpPr/>
          <p:nvPr/>
        </p:nvSpPr>
        <p:spPr>
          <a:xfrm>
            <a:off x="12524872" y="19239867"/>
            <a:ext cx="5606714" cy="1401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React/Vite Dashboard           </a:t>
            </a:r>
          </a:p>
          <a:p>
            <a:pPr algn="ctr"/>
            <a:r>
              <a:rPr lang="en-US" sz="2800" dirty="0"/>
              <a:t>        Live Charts • Maps • Trends </a:t>
            </a:r>
          </a:p>
        </p:txBody>
      </p:sp>
    </p:spTree>
    <p:extLst>
      <p:ext uri="{BB962C8B-B14F-4D97-AF65-F5344CB8AC3E}">
        <p14:creationId xmlns:p14="http://schemas.microsoft.com/office/powerpoint/2010/main" val="2061829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</TotalTime>
  <Words>631</Words>
  <Application>Microsoft Office PowerPoint</Application>
  <PresentationFormat>Custom</PresentationFormat>
  <Paragraphs>115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ADLaM Display</vt:lpstr>
      <vt:lpstr>Aptos</vt:lpstr>
      <vt:lpstr>Aptos Display</vt:lpstr>
      <vt:lpstr>Arial</vt:lpstr>
      <vt:lpstr>Times New Roman</vt:lpstr>
      <vt:lpstr>Office Theme</vt:lpstr>
      <vt:lpstr>                          Climate Change Modeling Using IoT Sensor Data with Secure Analytics                  Specific Use Case: Verifiable Climate Risk Intelligence as a Public Subscription Service MS of Sciences in Professional Studies: Cybersecurity, Internet of Things, and Data Management &amp; Analytics                                                                                                       Lucie Pendesi                                                                   Rochester Institute of Technology — Spring 2026 Problem Statement The Climate Risk Intelligence Platform is a full end-to-end Internet of Things (IoT) system designed to collect environmental sensor data, compute real-time climate risk scores, and deliver transparent, verifiable insights through a modern, animated web portal.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lucie pendesi</dc:creator>
  <cp:lastModifiedBy>lucie pendesi</cp:lastModifiedBy>
  <cp:revision>2</cp:revision>
  <dcterms:created xsi:type="dcterms:W3CDTF">2026-04-12T22:44:54Z</dcterms:created>
  <dcterms:modified xsi:type="dcterms:W3CDTF">2026-05-05T21:58:59Z</dcterms:modified>
</cp:coreProperties>
</file>